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73152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0" y="3017520"/>
            <a:ext cx="1645920" cy="164592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645920" y="310896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C3F7"/>
                </a:solidFill>
              </a:rPr>
              <a:t>79.8%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45920" y="37490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Accuracy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840480" y="3017520"/>
            <a:ext cx="1645920" cy="164592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840480" y="310896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C3F7"/>
                </a:solidFill>
              </a:rPr>
              <a:t>0.841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840480" y="37490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AUC-ROC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3017520"/>
            <a:ext cx="1645920" cy="164592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310896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C3F7"/>
                </a:solidFill>
              </a:rPr>
              <a:t>0.80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035040" y="37490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F1-Score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6400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Scoring de Crédit Bancaire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</a:rPr>
              <a:t>Modélisation Prédictive pour l'Octroi de Crédit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743200" y="2240280"/>
            <a:ext cx="3657600" cy="4572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377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Rafika Ayari Cervera  —  Data Analyst  |  Mars 2024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91840" y="4572000"/>
            <a:ext cx="2560320" cy="41148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45720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Dataset : 468 clients · 15 variables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1B4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Contexte &amp; Enjeux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51560"/>
            <a:ext cx="27432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2743200" cy="7315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2344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4D"/>
                </a:solidFill>
              </a:rPr>
              <a:t>Problématique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11480" y="182880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93B"/>
                </a:solidFill>
              </a:rPr>
              <a:t>Identifier un client à risque est stratégique. Un mauvais classement génère des impayés, dégrade la rentabilité et alourdit les coûts de recouvrement.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7432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51560"/>
            <a:ext cx="2743200" cy="73152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2344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4D"/>
                </a:solidFill>
              </a:rPr>
              <a:t>Enjeu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383280" y="182880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93B"/>
                </a:solidFill>
              </a:rPr>
              <a:t>Estimer avec précision la probabilité de défaut pour prendre des décisions d'octroi éclairées et conformes aux exigences réglementaires (Bâle III).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1051560"/>
            <a:ext cx="27432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051560"/>
            <a:ext cx="2743200" cy="73152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12344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4D"/>
                </a:solidFill>
              </a:rPr>
              <a:t>Solution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355080" y="182880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93B"/>
                </a:solidFill>
              </a:rPr>
              <a:t>Construire un modèle prédictif robuste capable de qualifier correctement les clients — avec une performance supérieure aux scores en production.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Rafika Ayari Cervera  |  Scoring de Crédit Bancaire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1B4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Méthodologie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005840"/>
            <a:ext cx="777240" cy="77724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058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C3F7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600200" y="1399032"/>
            <a:ext cx="320040" cy="0"/>
          </a:xfrm>
          <a:prstGeom prst="line">
            <a:avLst/>
          </a:prstGeom>
          <a:noFill/>
          <a:ln w="25400">
            <a:solidFill>
              <a:srgbClr val="4FC3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1965960"/>
            <a:ext cx="169164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1965960"/>
            <a:ext cx="1691640" cy="6400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" y="20574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D"/>
                </a:solidFill>
              </a:rPr>
              <a:t>Exploration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6032" y="2560320"/>
            <a:ext cx="1554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Analyse des 15 variables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Distribution cible équilibrée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Aucune valeur manquante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Identification des variables discriminantes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1005840"/>
            <a:ext cx="777240" cy="77724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4FC3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10058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C3F7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383280" y="1399032"/>
            <a:ext cx="320040" cy="0"/>
          </a:xfrm>
          <a:prstGeom prst="line">
            <a:avLst/>
          </a:prstGeom>
          <a:noFill/>
          <a:ln w="25400">
            <a:solidFill>
              <a:srgbClr val="4FC3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65960" y="1965960"/>
            <a:ext cx="169164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965960" y="1965960"/>
            <a:ext cx="1691640" cy="6400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7" name="Text 15"/>
          <p:cNvSpPr/>
          <p:nvPr/>
        </p:nvSpPr>
        <p:spPr>
          <a:xfrm>
            <a:off x="2039112" y="20574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D"/>
                </a:solidFill>
              </a:rPr>
              <a:t>Préparation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039112" y="2560320"/>
            <a:ext cx="1554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Nettoyage &amp; encodage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One-Hot Encoding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Split train/test 80/20 stratifié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Standardisation (Score 1 &amp; 2)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51960" y="1005840"/>
            <a:ext cx="777240" cy="77724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4FC3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51960" y="10058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C3F7"/>
                </a:solidFill>
              </a:rPr>
              <a:t>3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166360" y="1399032"/>
            <a:ext cx="320040" cy="0"/>
          </a:xfrm>
          <a:prstGeom prst="line">
            <a:avLst/>
          </a:prstGeom>
          <a:noFill/>
          <a:ln w="25400">
            <a:solidFill>
              <a:srgbClr val="4FC3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49040" y="1965960"/>
            <a:ext cx="169164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49040" y="1965960"/>
            <a:ext cx="1691640" cy="6400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24" name="Text 22"/>
          <p:cNvSpPr/>
          <p:nvPr/>
        </p:nvSpPr>
        <p:spPr>
          <a:xfrm>
            <a:off x="3822192" y="20574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D"/>
                </a:solidFill>
              </a:rPr>
              <a:t>Modélisation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822192" y="2560320"/>
            <a:ext cx="1554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2 modèles comparés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Régression Logistique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Random Forest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Validation croisée 5-folds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35040" y="1005840"/>
            <a:ext cx="777240" cy="77724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4FC3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0" y="10058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C3F7"/>
                </a:solidFill>
              </a:rPr>
              <a:t>4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949440" y="1399032"/>
            <a:ext cx="320040" cy="0"/>
          </a:xfrm>
          <a:prstGeom prst="line">
            <a:avLst/>
          </a:prstGeom>
          <a:noFill/>
          <a:ln w="25400">
            <a:solidFill>
              <a:srgbClr val="4FC3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32120" y="1965960"/>
            <a:ext cx="169164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532120" y="1965960"/>
            <a:ext cx="1691640" cy="6400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1" name="Text 29"/>
          <p:cNvSpPr/>
          <p:nvPr/>
        </p:nvSpPr>
        <p:spPr>
          <a:xfrm>
            <a:off x="5605272" y="20574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D"/>
                </a:solidFill>
              </a:rPr>
              <a:t>Évaluation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605272" y="2560320"/>
            <a:ext cx="1554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Métriques complètes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Accuracy, F1-Score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Courbe ROC &amp; AUC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Matrice de confusion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818120" y="1005840"/>
            <a:ext cx="777240" cy="77724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4FC3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18120" y="10058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C3F7"/>
                </a:solidFill>
              </a:rPr>
              <a:t>5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7315200" y="1965960"/>
            <a:ext cx="169164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315200" y="1965960"/>
            <a:ext cx="1691640" cy="6400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7" name="Text 35"/>
          <p:cNvSpPr/>
          <p:nvPr/>
        </p:nvSpPr>
        <p:spPr>
          <a:xfrm>
            <a:off x="7388352" y="20574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D"/>
                </a:solidFill>
              </a:rPr>
              <a:t>Interprétation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388352" y="2560320"/>
            <a:ext cx="1554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Insights métier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Importance des variables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Coefficients LR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Recommandations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0" name="Text 38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Rafika Ayari Cervera  |  Scoring de Crédit Bancaire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183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KPIs &amp; Résultats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05840"/>
            <a:ext cx="1920240" cy="1828800"/>
          </a:xfrm>
          <a:prstGeom prst="rect">
            <a:avLst/>
          </a:prstGeom>
          <a:solidFill>
            <a:srgbClr val="1E2761"/>
          </a:solidFill>
          <a:ln w="254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972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FC3F7"/>
                </a:solidFill>
              </a:rPr>
              <a:t>79.8%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74320" y="18745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Accuracy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22860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ADCFC"/>
                </a:solidFill>
              </a:rPr>
              <a:t>Régression Logistique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50592" y="1005840"/>
            <a:ext cx="1920240" cy="1828800"/>
          </a:xfrm>
          <a:prstGeom prst="rect">
            <a:avLst/>
          </a:prstGeom>
          <a:solidFill>
            <a:srgbClr val="1E2761"/>
          </a:solidFill>
          <a:ln w="25400">
            <a:solidFill>
              <a:srgbClr val="F0A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50592" y="10972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0A500"/>
                </a:solidFill>
              </a:rPr>
              <a:t>0.841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450592" y="18745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AUC-ROC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450592" y="22860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ADCFC"/>
                </a:solidFill>
              </a:rPr>
              <a:t>Régression Logistique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26864" y="1005840"/>
            <a:ext cx="1920240" cy="1828800"/>
          </a:xfrm>
          <a:prstGeom prst="rect">
            <a:avLst/>
          </a:prstGeom>
          <a:solidFill>
            <a:srgbClr val="1E2761"/>
          </a:solidFill>
          <a:ln w="2540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26864" y="10972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CC71"/>
                </a:solidFill>
              </a:rPr>
              <a:t>0.80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626864" y="18745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F1-Score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26864" y="22860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ADCFC"/>
                </a:solidFill>
              </a:rPr>
              <a:t>Macro average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03136" y="1005840"/>
            <a:ext cx="1920240" cy="1828800"/>
          </a:xfrm>
          <a:prstGeom prst="rect">
            <a:avLst/>
          </a:prstGeom>
          <a:solidFill>
            <a:srgbClr val="1E2761"/>
          </a:solidFill>
          <a:ln w="25400">
            <a:solidFill>
              <a:srgbClr val="9B59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03136" y="10972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B59B6"/>
                </a:solidFill>
              </a:rPr>
              <a:t>77.6%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803136" y="18745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CV Score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03136" y="22860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ADCFC"/>
                </a:solidFill>
              </a:rPr>
              <a:t>Validation croisée 5-folds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017520"/>
            <a:ext cx="85953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0175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C3F7"/>
                </a:solidFill>
              </a:rPr>
              <a:t>Comparaison des modèles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4320" y="3474720"/>
            <a:ext cx="2286000" cy="365760"/>
          </a:xfrm>
          <a:prstGeom prst="rect">
            <a:avLst/>
          </a:prstGeom>
          <a:solidFill>
            <a:srgbClr val="0A0F2E"/>
          </a:solidFill>
          <a:ln w="6350">
            <a:solidFill>
              <a:srgbClr val="4FC3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474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</a:rPr>
              <a:t>Modèle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60320" y="3474720"/>
            <a:ext cx="1188720" cy="365760"/>
          </a:xfrm>
          <a:prstGeom prst="rect">
            <a:avLst/>
          </a:prstGeom>
          <a:solidFill>
            <a:srgbClr val="0A0F2E"/>
          </a:solidFill>
          <a:ln w="6350">
            <a:solidFill>
              <a:srgbClr val="4FC3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0" y="34747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</a:rPr>
              <a:t>Accuracy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749040" y="3474720"/>
            <a:ext cx="1188720" cy="365760"/>
          </a:xfrm>
          <a:prstGeom prst="rect">
            <a:avLst/>
          </a:prstGeom>
          <a:solidFill>
            <a:srgbClr val="0A0F2E"/>
          </a:solidFill>
          <a:ln w="6350">
            <a:solidFill>
              <a:srgbClr val="4FC3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49040" y="34747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</a:rPr>
              <a:t>AUC-ROC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37760" y="3474720"/>
            <a:ext cx="1554480" cy="365760"/>
          </a:xfrm>
          <a:prstGeom prst="rect">
            <a:avLst/>
          </a:prstGeom>
          <a:solidFill>
            <a:srgbClr val="0A0F2E"/>
          </a:solidFill>
          <a:ln w="6350">
            <a:solidFill>
              <a:srgbClr val="4FC3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34747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</a:rPr>
              <a:t>F1 Bon client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92240" y="3474720"/>
            <a:ext cx="1737360" cy="365760"/>
          </a:xfrm>
          <a:prstGeom prst="rect">
            <a:avLst/>
          </a:prstGeom>
          <a:solidFill>
            <a:srgbClr val="0A0F2E"/>
          </a:solidFill>
          <a:ln w="6350">
            <a:solidFill>
              <a:srgbClr val="4FC3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34747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</a:rPr>
              <a:t>F1 Mauvais client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229600" y="3474720"/>
            <a:ext cx="1463040" cy="365760"/>
          </a:xfrm>
          <a:prstGeom prst="rect">
            <a:avLst/>
          </a:prstGeom>
          <a:solidFill>
            <a:srgbClr val="0A0F2E"/>
          </a:solidFill>
          <a:ln w="6350">
            <a:solidFill>
              <a:srgbClr val="4FC3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0" y="34747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</a:rPr>
              <a:t>CV Score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3840480"/>
            <a:ext cx="2286000" cy="365760"/>
          </a:xfrm>
          <a:prstGeom prst="rect">
            <a:avLst/>
          </a:prstGeom>
          <a:solidFill>
            <a:srgbClr val="1A2340"/>
          </a:solidFill>
          <a:ln w="3810">
            <a:solidFill>
              <a:srgbClr val="CADC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3840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A500"/>
                </a:solidFill>
              </a:rPr>
              <a:t>Régression Logistique ★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560320" y="3840480"/>
            <a:ext cx="1188720" cy="365760"/>
          </a:xfrm>
          <a:prstGeom prst="rect">
            <a:avLst/>
          </a:prstGeom>
          <a:solidFill>
            <a:srgbClr val="1A2340"/>
          </a:solidFill>
          <a:ln w="3810">
            <a:solidFill>
              <a:srgbClr val="CADC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60320" y="38404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79.8%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749040" y="3840480"/>
            <a:ext cx="1188720" cy="365760"/>
          </a:xfrm>
          <a:prstGeom prst="rect">
            <a:avLst/>
          </a:prstGeom>
          <a:solidFill>
            <a:srgbClr val="1A2340"/>
          </a:solidFill>
          <a:ln w="3810">
            <a:solidFill>
              <a:srgbClr val="CADCF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49040" y="38404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0.841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937760" y="3840480"/>
            <a:ext cx="1554480" cy="365760"/>
          </a:xfrm>
          <a:prstGeom prst="rect">
            <a:avLst/>
          </a:prstGeom>
          <a:solidFill>
            <a:srgbClr val="1A2340"/>
          </a:solidFill>
          <a:ln w="3810">
            <a:solidFill>
              <a:srgbClr val="CADCF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37760" y="3840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0.82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492240" y="3840480"/>
            <a:ext cx="1737360" cy="365760"/>
          </a:xfrm>
          <a:prstGeom prst="rect">
            <a:avLst/>
          </a:prstGeom>
          <a:solidFill>
            <a:srgbClr val="1A2340"/>
          </a:solidFill>
          <a:ln w="3810">
            <a:solidFill>
              <a:srgbClr val="CADCF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92240" y="38404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0.78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229600" y="3840480"/>
            <a:ext cx="1463040" cy="365760"/>
          </a:xfrm>
          <a:prstGeom prst="rect">
            <a:avLst/>
          </a:prstGeom>
          <a:solidFill>
            <a:srgbClr val="1A2340"/>
          </a:solidFill>
          <a:ln w="3810">
            <a:solidFill>
              <a:srgbClr val="CADCF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29600" y="38404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77.6%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74320" y="4206240"/>
            <a:ext cx="2286000" cy="365760"/>
          </a:xfrm>
          <a:prstGeom prst="rect">
            <a:avLst/>
          </a:prstGeom>
          <a:solidFill>
            <a:srgbClr val="1E2761"/>
          </a:solidFill>
          <a:ln w="3810">
            <a:solidFill>
              <a:srgbClr val="CADCF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4206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Random Forest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2560320" y="4206240"/>
            <a:ext cx="1188720" cy="365760"/>
          </a:xfrm>
          <a:prstGeom prst="rect">
            <a:avLst/>
          </a:prstGeom>
          <a:solidFill>
            <a:srgbClr val="1E2761"/>
          </a:solidFill>
          <a:ln w="3810">
            <a:solidFill>
              <a:srgbClr val="CADCF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560320" y="42062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78.7%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3749040" y="4206240"/>
            <a:ext cx="1188720" cy="365760"/>
          </a:xfrm>
          <a:prstGeom prst="rect">
            <a:avLst/>
          </a:prstGeom>
          <a:solidFill>
            <a:srgbClr val="1E2761"/>
          </a:solidFill>
          <a:ln w="3810">
            <a:solidFill>
              <a:srgbClr val="CADCF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749040" y="42062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0.857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937760" y="4206240"/>
            <a:ext cx="1554480" cy="365760"/>
          </a:xfrm>
          <a:prstGeom prst="rect">
            <a:avLst/>
          </a:prstGeom>
          <a:solidFill>
            <a:srgbClr val="1E2761"/>
          </a:solidFill>
          <a:ln w="3810">
            <a:solidFill>
              <a:srgbClr val="CADCF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37760" y="42062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0.80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492240" y="4206240"/>
            <a:ext cx="1737360" cy="365760"/>
          </a:xfrm>
          <a:prstGeom prst="rect">
            <a:avLst/>
          </a:prstGeom>
          <a:solidFill>
            <a:srgbClr val="1E2761"/>
          </a:solidFill>
          <a:ln w="3810">
            <a:solidFill>
              <a:srgbClr val="CADCF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92240" y="42062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0.77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8229600" y="4206240"/>
            <a:ext cx="1463040" cy="365760"/>
          </a:xfrm>
          <a:prstGeom prst="rect">
            <a:avLst/>
          </a:prstGeom>
          <a:solidFill>
            <a:srgbClr val="1E2761"/>
          </a:solidFill>
          <a:ln w="3810">
            <a:solidFill>
              <a:srgbClr val="CADCF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229600" y="42062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78.8%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858000" y="4709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0A500"/>
                </a:solidFill>
              </a:rPr>
              <a:t>★ Modèle retenu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1B4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Profil des clients — Bon vs Mauvais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05840"/>
            <a:ext cx="3840480" cy="5486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  BON CLIENT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1554480"/>
            <a:ext cx="3840480" cy="347472"/>
          </a:xfrm>
          <a:prstGeom prst="rect">
            <a:avLst/>
          </a:prstGeom>
          <a:solidFill>
            <a:srgbClr val="F0FFF4"/>
          </a:solidFill>
          <a:ln w="6350">
            <a:solidFill>
              <a:srgbClr val="C6F6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544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6634"/>
                </a:solidFill>
              </a:rPr>
              <a:t>● Épargne domiciliée à la banque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929384"/>
            <a:ext cx="3840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6F6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92938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6634"/>
                </a:solidFill>
              </a:rPr>
              <a:t>● Marié(e)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304288"/>
            <a:ext cx="3840480" cy="347472"/>
          </a:xfrm>
          <a:prstGeom prst="rect">
            <a:avLst/>
          </a:prstGeom>
          <a:solidFill>
            <a:srgbClr val="F0FFF4"/>
          </a:solidFill>
          <a:ln w="6350">
            <a:solidFill>
              <a:srgbClr val="C6F6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30428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6634"/>
                </a:solidFill>
              </a:rPr>
              <a:t>● Ancienneté ≥ 4 ans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679192"/>
            <a:ext cx="3840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6F6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6791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6634"/>
                </a:solidFill>
              </a:rPr>
              <a:t>● 40 ans et plus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054096"/>
            <a:ext cx="3840480" cy="347472"/>
          </a:xfrm>
          <a:prstGeom prst="rect">
            <a:avLst/>
          </a:prstGeom>
          <a:solidFill>
            <a:srgbClr val="F0FFF4"/>
          </a:solidFill>
          <a:ln w="6350">
            <a:solidFill>
              <a:srgbClr val="C6F6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05409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6634"/>
                </a:solidFill>
              </a:rPr>
              <a:t>● Salaire domicilié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429000"/>
            <a:ext cx="3840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6F6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4290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6634"/>
                </a:solidFill>
              </a:rPr>
              <a:t>● Cadre ou employé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803904"/>
            <a:ext cx="3840480" cy="347472"/>
          </a:xfrm>
          <a:prstGeom prst="rect">
            <a:avLst/>
          </a:prstGeom>
          <a:solidFill>
            <a:srgbClr val="F0FFF4"/>
          </a:solidFill>
          <a:ln w="6350">
            <a:solidFill>
              <a:srgbClr val="C6F6D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80390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6634"/>
                </a:solidFill>
              </a:rPr>
              <a:t>● Encours &gt; 2 000 €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4178808"/>
            <a:ext cx="3840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6F6D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17880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6634"/>
                </a:solidFill>
              </a:rPr>
              <a:t>● Mouvements &gt; 30 000 €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4553712"/>
            <a:ext cx="3840480" cy="347472"/>
          </a:xfrm>
          <a:prstGeom prst="rect">
            <a:avLst/>
          </a:prstGeom>
          <a:solidFill>
            <a:srgbClr val="F0FFF4"/>
          </a:solidFill>
          <a:ln w="6350">
            <a:solidFill>
              <a:srgbClr val="C6F6D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55371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6634"/>
                </a:solidFill>
              </a:rPr>
              <a:t>● Score 1 &amp; Score 2 élevés (600+)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0" y="1005840"/>
            <a:ext cx="3840480" cy="5486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10058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  MAUVAIS CLIENT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029200" y="1554480"/>
            <a:ext cx="3840480" cy="347472"/>
          </a:xfrm>
          <a:prstGeom prst="rect">
            <a:avLst/>
          </a:prstGeom>
          <a:solidFill>
            <a:srgbClr val="FFF5F5"/>
          </a:solidFill>
          <a:ln w="6350">
            <a:solidFill>
              <a:srgbClr val="FED7D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66360" y="15544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1A1A"/>
                </a:solidFill>
              </a:rPr>
              <a:t>● Pas d'épargne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0" y="1929384"/>
            <a:ext cx="3840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ED7D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66360" y="192938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1A1A"/>
                </a:solidFill>
              </a:rPr>
              <a:t>● Célibataire / Divorcé / Veuf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29200" y="2304288"/>
            <a:ext cx="3840480" cy="347472"/>
          </a:xfrm>
          <a:prstGeom prst="rect">
            <a:avLst/>
          </a:prstGeom>
          <a:solidFill>
            <a:srgbClr val="FFF5F5"/>
          </a:solidFill>
          <a:ln w="6350">
            <a:solidFill>
              <a:srgbClr val="FED7D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66360" y="230428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1A1A"/>
                </a:solidFill>
              </a:rPr>
              <a:t>● Ancienneté &lt; 4 ans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29200" y="2679192"/>
            <a:ext cx="3840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ED7D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66360" y="26791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1A1A"/>
                </a:solidFill>
              </a:rPr>
              <a:t>● Moins de 40 ans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029200" y="3054096"/>
            <a:ext cx="3840480" cy="347472"/>
          </a:xfrm>
          <a:prstGeom prst="rect">
            <a:avLst/>
          </a:prstGeom>
          <a:solidFill>
            <a:srgbClr val="FFF5F5"/>
          </a:solidFill>
          <a:ln w="6350">
            <a:solidFill>
              <a:srgbClr val="FED7D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66360" y="305409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1A1A"/>
                </a:solidFill>
              </a:rPr>
              <a:t>● Salaire non domicilié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029200" y="3429000"/>
            <a:ext cx="3840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ED7D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66360" y="34290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1A1A"/>
                </a:solidFill>
              </a:rPr>
              <a:t>● Autres professions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029200" y="3803904"/>
            <a:ext cx="3840480" cy="347472"/>
          </a:xfrm>
          <a:prstGeom prst="rect">
            <a:avLst/>
          </a:prstGeom>
          <a:solidFill>
            <a:srgbClr val="FFF5F5"/>
          </a:solidFill>
          <a:ln w="6350">
            <a:solidFill>
              <a:srgbClr val="FED7D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66360" y="380390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1A1A"/>
                </a:solidFill>
              </a:rPr>
              <a:t>● Encours &lt; 2 000 €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029200" y="4178808"/>
            <a:ext cx="3840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ED7D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66360" y="417880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1A1A"/>
                </a:solidFill>
              </a:rPr>
              <a:t>● Interdiction de chéquier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029200" y="4553712"/>
            <a:ext cx="3840480" cy="347472"/>
          </a:xfrm>
          <a:prstGeom prst="rect">
            <a:avLst/>
          </a:prstGeom>
          <a:solidFill>
            <a:srgbClr val="FFF5F5"/>
          </a:solidFill>
          <a:ln w="6350">
            <a:solidFill>
              <a:srgbClr val="FED7D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66360" y="455371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1A1A"/>
                </a:solidFill>
              </a:rPr>
              <a:t>● Score 1 &amp; Score 2 bas (&lt; 500)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6" name="Text 44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Rafika Ayari Cervera  |  Scoring de Crédit Bancaire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1B4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Variables clés &amp; Interprétation métier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058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4D"/>
                </a:solidFill>
              </a:rPr>
              <a:t>Top variables prédictives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15087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Score 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764792"/>
            <a:ext cx="3474720" cy="16459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764792"/>
            <a:ext cx="3474720" cy="164592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20116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Score 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67712"/>
            <a:ext cx="3474720" cy="16459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" y="2267712"/>
            <a:ext cx="2849270" cy="164592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25146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Domiciliation salaire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770632"/>
            <a:ext cx="3474720" cy="16459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Shape 12"/>
          <p:cNvSpPr/>
          <p:nvPr/>
        </p:nvSpPr>
        <p:spPr>
          <a:xfrm>
            <a:off x="274320" y="2770632"/>
            <a:ext cx="1320394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30175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Cumul débits &gt; 100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273552"/>
            <a:ext cx="3474720" cy="16459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" y="3273552"/>
            <a:ext cx="111191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35204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Interdiction chéquier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776472"/>
            <a:ext cx="3474720" cy="16459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Shape 18"/>
          <p:cNvSpPr/>
          <p:nvPr/>
        </p:nvSpPr>
        <p:spPr>
          <a:xfrm>
            <a:off x="274320" y="3776472"/>
            <a:ext cx="972922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0233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Ancienneté 4-6 ans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4279392"/>
            <a:ext cx="3474720" cy="16459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Shape 21"/>
          <p:cNvSpPr/>
          <p:nvPr/>
        </p:nvSpPr>
        <p:spPr>
          <a:xfrm>
            <a:off x="274320" y="4279392"/>
            <a:ext cx="764438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Shape 22"/>
          <p:cNvSpPr/>
          <p:nvPr/>
        </p:nvSpPr>
        <p:spPr>
          <a:xfrm>
            <a:off x="4663440" y="1005840"/>
            <a:ext cx="420624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1005840"/>
            <a:ext cx="73152" cy="86868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26" name="Text 24"/>
          <p:cNvSpPr/>
          <p:nvPr/>
        </p:nvSpPr>
        <p:spPr>
          <a:xfrm>
            <a:off x="4828032" y="10515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B4D"/>
                </a:solidFill>
              </a:rPr>
              <a:t>Scores internes décisifs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28032" y="138988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Score 1 &amp; Score 2 sont les variables les plus prédictives — confirme leur valeur opérationnelle.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2011680"/>
            <a:ext cx="420624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2011680"/>
            <a:ext cx="73152" cy="86868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30" name="Text 28"/>
          <p:cNvSpPr/>
          <p:nvPr/>
        </p:nvSpPr>
        <p:spPr>
          <a:xfrm>
            <a:off x="4828032" y="20574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B4D"/>
                </a:solidFill>
              </a:rPr>
              <a:t>Domiciliation = engagement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28032" y="239572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Les clients qui domicilient leur salaire présentent un risque significativement réduit.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3017520"/>
            <a:ext cx="420624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3017520"/>
            <a:ext cx="73152" cy="86868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4" name="Text 32"/>
          <p:cNvSpPr/>
          <p:nvPr/>
        </p:nvSpPr>
        <p:spPr>
          <a:xfrm>
            <a:off x="4828032" y="30632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B4D"/>
                </a:solidFill>
              </a:rPr>
              <a:t>Chéquier = signal d'alerte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28032" y="340156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L'interdiction de chéquier est un indicateur fort d'incidents bancaires passés.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63440" y="4023360"/>
            <a:ext cx="420624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63440" y="4023360"/>
            <a:ext cx="73152" cy="86868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38" name="Text 36"/>
          <p:cNvSpPr/>
          <p:nvPr/>
        </p:nvSpPr>
        <p:spPr>
          <a:xfrm>
            <a:off x="4828032" y="40690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B4D"/>
                </a:solidFill>
              </a:rPr>
              <a:t>Ancienneté = fidélité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28032" y="440740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Les clients anciens (4-6 ans) sont moins risqués — la relation bancaire est protectrice.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1" name="Text 39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Rafika Ayari Cervera  |  Scoring de Crédit Bancaire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1B4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Recommandations Métier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05840"/>
            <a:ext cx="4114800" cy="1737360"/>
          </a:xfrm>
          <a:prstGeom prst="rect">
            <a:avLst/>
          </a:prstGeom>
          <a:solidFill>
            <a:srgbClr val="F8FAFC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188720"/>
            <a:ext cx="594360" cy="594360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188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1430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</a:rPr>
              <a:t>Prioriser les scores internes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7373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Intégrer systématiquement Score 1 &amp; Score 2 dans le processus d'octroi — ce sont les variables les plus prédictives du modèle.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4114800" cy="1737360"/>
          </a:xfrm>
          <a:prstGeom prst="rect">
            <a:avLst/>
          </a:prstGeom>
          <a:solidFill>
            <a:srgbClr val="F8FAFC"/>
          </a:solidFill>
          <a:ln w="19050">
            <a:solidFill>
              <a:srgbClr val="F0A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1188720"/>
            <a:ext cx="594360" cy="594360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188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23560" y="11430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</a:rPr>
              <a:t>Vérifier l'historique bancaire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17373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L'interdiction de chéquier et l'autorisation de découvert sont des signaux d'alerte à contrôler impérativement avant tout octroi.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926080"/>
            <a:ext cx="4114800" cy="1737360"/>
          </a:xfrm>
          <a:prstGeom prst="rect">
            <a:avLst/>
          </a:prstGeom>
          <a:solidFill>
            <a:srgbClr val="F8FAFC"/>
          </a:solidFill>
          <a:ln w="1905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3108960"/>
            <a:ext cx="594360" cy="59436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3108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30632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</a:rPr>
              <a:t>Valoriser la domiciliation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3657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Proposer des conditions préférentielles aux clients domiciliant leur salaire — ils présentent un risque significativement réduit.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926080"/>
            <a:ext cx="4114800" cy="1737360"/>
          </a:xfrm>
          <a:prstGeom prst="rect">
            <a:avLst/>
          </a:prstGeom>
          <a:solidFill>
            <a:srgbClr val="F8FAFC"/>
          </a:solidFill>
          <a:ln w="1905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3108960"/>
            <a:ext cx="594360" cy="59436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3108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23560" y="30632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</a:rPr>
              <a:t>Surveiller les nouveaux clients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2040" y="3657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Les clients avec moins d'1 an d'ancienneté sont surreprésentés parmi les mauvais clients — appliquer une vigilance accrue.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Rafika Ayari Cervera  |  Scoring de Crédit Bancaire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73152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Conclusion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743200" y="1051560"/>
            <a:ext cx="3657600" cy="4572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280160"/>
            <a:ext cx="2194560" cy="2194560"/>
          </a:xfrm>
          <a:prstGeom prst="rect">
            <a:avLst/>
          </a:prstGeom>
          <a:solidFill>
            <a:srgbClr val="1E2761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3716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FC3F7"/>
                </a:solidFill>
              </a:rPr>
              <a:t>79.8%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d'accuracy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5146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CADCFC"/>
                </a:solidFill>
              </a:rPr>
              <a:t>Supérieur aux scores actuellement en production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0" y="1280160"/>
            <a:ext cx="2194560" cy="2194560"/>
          </a:xfrm>
          <a:prstGeom prst="rect">
            <a:avLst/>
          </a:prstGeom>
          <a:solidFill>
            <a:srgbClr val="1E2761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0" y="13716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FC3F7"/>
                </a:solidFill>
              </a:rPr>
              <a:t>0.841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74720" y="21031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AUC-ROC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25146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CADCFC"/>
                </a:solidFill>
              </a:rPr>
              <a:t>Excellente discrimination bon/mauvais client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280160"/>
            <a:ext cx="2194560" cy="2194560"/>
          </a:xfrm>
          <a:prstGeom prst="rect">
            <a:avLst/>
          </a:prstGeom>
          <a:solidFill>
            <a:srgbClr val="1E2761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13716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FC3F7"/>
                </a:solidFill>
              </a:rPr>
              <a:t>100%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217920" y="21031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interprétable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25146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CADCFC"/>
                </a:solidFill>
              </a:rPr>
              <a:t>Conforme aux exigences réglementaires (Bâle III)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703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ADCFC"/>
                </a:solidFill>
              </a:rPr>
              <a:t>Ce modèle est prêt pour un déploiement en production.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" y="4343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Rafika Ayari Cervera  —  linkedin.com/in/rafikacervera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183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Impact Financier — Ce que le modèle rapporte à la banque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32688"/>
            <a:ext cx="859536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3268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ADCFC"/>
                </a:solidFill>
              </a:rPr>
              <a:t>Hypothèses : 1 000 demandes/an · Crédit moyen 15 000 € · LGD 60% · Coût recouvrement 1 500 €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28600" y="1417320"/>
            <a:ext cx="2011680" cy="1691640"/>
          </a:xfrm>
          <a:prstGeom prst="rect">
            <a:avLst/>
          </a:prstGeom>
          <a:solidFill>
            <a:srgbClr val="1E2761"/>
          </a:solidFill>
          <a:ln w="254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8600" y="1481328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C3F7"/>
                </a:solidFill>
              </a:rPr>
              <a:t>353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28600" y="21762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Mauvais clients bloqués/an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" y="257860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</a:rPr>
              <a:t>sur 493 estimés (71.7% recall)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23160" y="1417320"/>
            <a:ext cx="2011680" cy="1691640"/>
          </a:xfrm>
          <a:prstGeom prst="rect">
            <a:avLst/>
          </a:prstGeom>
          <a:solidFill>
            <a:srgbClr val="1E2761"/>
          </a:solidFill>
          <a:ln w="25400">
            <a:solidFill>
              <a:srgbClr val="F0A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23160" y="1481328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A500"/>
                </a:solidFill>
              </a:rPr>
              <a:t>3,2 M€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423160" y="21762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Impayés évités/an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23160" y="257860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</a:rPr>
              <a:t>9 000 € × 353 dossiers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17720" y="1417320"/>
            <a:ext cx="2011680" cy="1691640"/>
          </a:xfrm>
          <a:prstGeom prst="rect">
            <a:avLst/>
          </a:prstGeom>
          <a:solidFill>
            <a:srgbClr val="1E2761"/>
          </a:solidFill>
          <a:ln w="2540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17720" y="1481328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CC71"/>
                </a:solidFill>
              </a:rPr>
              <a:t>+347 K€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617720" y="21762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Gain vs anciens scores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17720" y="257860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</a:rPr>
              <a:t>vs modèles à 65% de détection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12280" y="1417320"/>
            <a:ext cx="2011680" cy="1691640"/>
          </a:xfrm>
          <a:prstGeom prst="rect">
            <a:avLst/>
          </a:prstGeom>
          <a:solidFill>
            <a:srgbClr val="1E2761"/>
          </a:solidFill>
          <a:ln w="25400">
            <a:solidFill>
              <a:srgbClr val="9B59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12280" y="1481328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B59B6"/>
                </a:solidFill>
              </a:rPr>
              <a:t>+1,1 M€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812280" y="21762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Gain vs aléatoire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12280" y="257860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</a:rPr>
              <a:t>vs décision sans modèle (50%)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3246120"/>
            <a:ext cx="8595360" cy="685800"/>
          </a:xfrm>
          <a:prstGeom prst="rect">
            <a:avLst/>
          </a:prstGeom>
          <a:solidFill>
            <a:srgbClr val="1E2761"/>
          </a:solidFill>
          <a:ln w="25400">
            <a:solidFill>
              <a:srgbClr val="F0A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" y="324612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</a:rPr>
              <a:t>IMPACT GLOBAL ESTIMÉ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00400" y="324612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≈ 3 972 300 € / an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400800" y="32461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</a:rPr>
              <a:t>Impayés évités + Revenus préservés sur bons clients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4320" y="40416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</a:rPr>
              <a:t>Comparaison des gains annuels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4320" y="4370832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Notre modèle (71.7%)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651760" y="4389120"/>
            <a:ext cx="5029200" cy="182880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0" name="Shape 28"/>
          <p:cNvSpPr/>
          <p:nvPr/>
        </p:nvSpPr>
        <p:spPr>
          <a:xfrm>
            <a:off x="2651760" y="4389120"/>
            <a:ext cx="5029200" cy="18288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0" y="4370832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FC3F7"/>
                </a:solidFill>
              </a:rPr>
              <a:t>3 707 K€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74320" y="460857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Anciens scores (65%)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651760" y="4626864"/>
            <a:ext cx="5029200" cy="182880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4" name="Shape 32"/>
          <p:cNvSpPr/>
          <p:nvPr/>
        </p:nvSpPr>
        <p:spPr>
          <a:xfrm>
            <a:off x="2651760" y="4626864"/>
            <a:ext cx="4576572" cy="18288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5" name="Text 33"/>
          <p:cNvSpPr/>
          <p:nvPr/>
        </p:nvSpPr>
        <p:spPr>
          <a:xfrm>
            <a:off x="7772400" y="4608576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A500"/>
                </a:solidFill>
              </a:rPr>
              <a:t>3 360 K€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74320" y="484632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Modèle aléatoire (50%)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651760" y="4864608"/>
            <a:ext cx="5029200" cy="182880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8" name="Shape 36"/>
          <p:cNvSpPr/>
          <p:nvPr/>
        </p:nvSpPr>
        <p:spPr>
          <a:xfrm>
            <a:off x="2651760" y="4864608"/>
            <a:ext cx="3470148" cy="18288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39" name="Text 37"/>
          <p:cNvSpPr/>
          <p:nvPr/>
        </p:nvSpPr>
        <p:spPr>
          <a:xfrm>
            <a:off x="7772400" y="4846320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88888"/>
                </a:solidFill>
              </a:rPr>
              <a:t>2 583 K€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1B4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Recommandations &amp; Prochaines étapes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6012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</a:rPr>
              <a:t>Recommandations opérationnelles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4846320" cy="804672"/>
          </a:xfrm>
          <a:prstGeom prst="rect">
            <a:avLst/>
          </a:prstGeom>
          <a:solidFill>
            <a:srgbClr val="F8FAFC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81328"/>
            <a:ext cx="502920" cy="502920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4813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4173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B4D"/>
                </a:solidFill>
              </a:rPr>
              <a:t>Déployer le modèle en production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55648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Intégrer la Régression Logistique dans le système d'octroi — API REST ou module selon l'infrastructure.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267712"/>
            <a:ext cx="4846320" cy="804672"/>
          </a:xfrm>
          <a:prstGeom prst="rect">
            <a:avLst/>
          </a:prstGeom>
          <a:solidFill>
            <a:srgbClr val="F8FAFC"/>
          </a:solidFill>
          <a:ln w="19050">
            <a:solidFill>
              <a:srgbClr val="F0A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377440"/>
            <a:ext cx="502920" cy="502920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231343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B4D"/>
                </a:solidFill>
              </a:rPr>
              <a:t>Prioriser Score 1 &amp; Score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265176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Ces deux variables expliquent la majorité du pouvoir prédictif — les maintenir à jour est critique.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163824"/>
            <a:ext cx="4846320" cy="804672"/>
          </a:xfrm>
          <a:prstGeom prst="rect">
            <a:avLst/>
          </a:prstGeom>
          <a:solidFill>
            <a:srgbClr val="F8FAFC"/>
          </a:solidFill>
          <a:ln w="1905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273552"/>
            <a:ext cx="502920" cy="50292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3273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320954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B4D"/>
                </a:solidFill>
              </a:rPr>
              <a:t>Surveiller les nouveaux clients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354787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Ancienneté &lt; 1 an = risque élevé. Appliquer un seuil d'acceptation plus strict sur ce segment.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4059936"/>
            <a:ext cx="4846320" cy="804672"/>
          </a:xfrm>
          <a:prstGeom prst="rect">
            <a:avLst/>
          </a:prstGeom>
          <a:solidFill>
            <a:srgbClr val="F8FAFC"/>
          </a:solidFill>
          <a:ln w="1905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4169664"/>
            <a:ext cx="502920" cy="50292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41696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410565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B4D"/>
                </a:solidFill>
              </a:rPr>
              <a:t>Incentiver la domiciliation du salaire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" y="4443984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Les clients domiciliés présentent moins de risques. Proposer des conditions préférentielles.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94960" y="9601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</a:rPr>
              <a:t>Roadmap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394960" y="1371600"/>
            <a:ext cx="347472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394960" y="1371600"/>
            <a:ext cx="3474720" cy="347472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29" name="Text 27"/>
          <p:cNvSpPr/>
          <p:nvPr/>
        </p:nvSpPr>
        <p:spPr>
          <a:xfrm>
            <a:off x="5394960" y="13716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Court terme  ·  0-3 mois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532120" y="173736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→  Pilote sur 100 dossiers réels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532120" y="1975104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→  Monitoring prédictions vs réalité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532120" y="221284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→  Formation des équipes crédit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394960" y="2560320"/>
            <a:ext cx="347472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F0A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394960" y="2560320"/>
            <a:ext cx="3474720" cy="347472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5" name="Text 33"/>
          <p:cNvSpPr/>
          <p:nvPr/>
        </p:nvSpPr>
        <p:spPr>
          <a:xfrm>
            <a:off x="5394960" y="25603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Moyen terme  ·  3-6 mois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532120" y="292608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→  Enrichissement du dataset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532120" y="3163824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→  Variables comportementales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532120" y="340156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→  Réévaluation mensuelle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394960" y="3749040"/>
            <a:ext cx="347472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394960" y="3749040"/>
            <a:ext cx="3474720" cy="347472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41" name="Text 39"/>
          <p:cNvSpPr/>
          <p:nvPr/>
        </p:nvSpPr>
        <p:spPr>
          <a:xfrm>
            <a:off x="5394960" y="37490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Long terme  ·  6-12 mois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532120" y="411480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→  XGBoost si données &gt; 2 000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532120" y="4352544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→  API de scoring temps réel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532120" y="459028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→  Conformité RGPD &amp; Bâle III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6" name="Text 44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Rafika Ayari Cervera  |  Scoring de Crédit Bancaire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Scoring de Crédit Bancaire</dc:title>
  <dc:subject>PptxGenJS Presentation</dc:subject>
  <dc:creator>Rafika Ayari Cervera</dc:creator>
  <cp:lastModifiedBy>Rafika Ayari Cervera</cp:lastModifiedBy>
  <cp:revision>1</cp:revision>
  <dcterms:created xsi:type="dcterms:W3CDTF">2026-03-17T14:02:10Z</dcterms:created>
  <dcterms:modified xsi:type="dcterms:W3CDTF">2026-03-17T14:02:10Z</dcterms:modified>
</cp:coreProperties>
</file>